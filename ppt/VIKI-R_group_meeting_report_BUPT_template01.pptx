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653212b0ae498e" /><Relationship Type="http://schemas.openxmlformats.org/officeDocument/2006/relationships/extended-properties" Target="/docProps/app.xml" Id="Re2c8f1287aac4221" /><Relationship Type="http://schemas.openxmlformats.org/officeDocument/2006/relationships/officeDocument" Target="/ppt/presentation.xml" Id="Rc1c6ab2daff046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80edcd8c7f4a3f"/>
  </p:sldMasterIdLst>
  <p:notesMasterIdLst>
    <p:notesMasterId xmlns:r="http://schemas.openxmlformats.org/officeDocument/2006/relationships" r:id="R7f38a380278d4612"/>
  </p:notesMasterIdLst>
  <p:sldIdLst>
    <p:sldId xmlns:r="http://schemas.openxmlformats.org/officeDocument/2006/relationships" id="256" r:id="Rb2ef6cad66fe4ae3"/>
    <p:sldId xmlns:r="http://schemas.openxmlformats.org/officeDocument/2006/relationships" id="257" r:id="R5f2771f2356e4a46"/>
    <p:sldId xmlns:r="http://schemas.openxmlformats.org/officeDocument/2006/relationships" id="258" r:id="R37038ac7ee5a4ca5"/>
    <p:sldId xmlns:r="http://schemas.openxmlformats.org/officeDocument/2006/relationships" id="259" r:id="Rc14ec898748241bd"/>
    <p:sldId xmlns:r="http://schemas.openxmlformats.org/officeDocument/2006/relationships" id="260" r:id="R160dc154fed045ca"/>
    <p:sldId xmlns:r="http://schemas.openxmlformats.org/officeDocument/2006/relationships" id="261" r:id="R7cff0ace17e54dc8"/>
    <p:sldId xmlns:r="http://schemas.openxmlformats.org/officeDocument/2006/relationships" id="262" r:id="R36394a55b2884423"/>
    <p:sldId xmlns:r="http://schemas.openxmlformats.org/officeDocument/2006/relationships" id="263" r:id="R5f70fc9ea4f54cd3"/>
    <p:sldId xmlns:r="http://schemas.openxmlformats.org/officeDocument/2006/relationships" id="264" r:id="Rbe1f41afdc194a60"/>
    <p:sldId xmlns:r="http://schemas.openxmlformats.org/officeDocument/2006/relationships" id="265" r:id="R306ceba55e0842e7"/>
    <p:sldId xmlns:r="http://schemas.openxmlformats.org/officeDocument/2006/relationships" id="266" r:id="R87bdbf550a8949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0edcd8c7f4a3f" /><Relationship Type="http://schemas.openxmlformats.org/officeDocument/2006/relationships/theme" Target="/ppt/theme/theme1.xml" Id="R3bacf783011a4cee" /><Relationship Type="http://schemas.openxmlformats.org/officeDocument/2006/relationships/notesMaster" Target="/ppt/notesMasters/notesMaster1.xml" Id="R7f38a380278d4612" /><Relationship Type="http://schemas.openxmlformats.org/officeDocument/2006/relationships/presProps" Target="/ppt/presProps.xml" Id="R08c56dec32534bf7" /><Relationship Type="http://schemas.openxmlformats.org/officeDocument/2006/relationships/viewProps" Target="/ppt/viewProps.xml" Id="Rf4a20b7c50b447c4" /><Relationship Type="http://schemas.openxmlformats.org/officeDocument/2006/relationships/tableStyles" Target="/ppt/tableStyles.xml" Id="R2c7802e796d24a5c" /><Relationship Type="http://schemas.openxmlformats.org/officeDocument/2006/relationships/slide" Target="/ppt/slides/slide1.xml" Id="Rb2ef6cad66fe4ae3" /><Relationship Type="http://schemas.openxmlformats.org/officeDocument/2006/relationships/slide" Target="/ppt/slides/slide2.xml" Id="R5f2771f2356e4a46" /><Relationship Type="http://schemas.openxmlformats.org/officeDocument/2006/relationships/slide" Target="/ppt/slides/slide3.xml" Id="R37038ac7ee5a4ca5" /><Relationship Type="http://schemas.openxmlformats.org/officeDocument/2006/relationships/slide" Target="/ppt/slides/slide4.xml" Id="Rc14ec898748241bd" /><Relationship Type="http://schemas.openxmlformats.org/officeDocument/2006/relationships/slide" Target="/ppt/slides/slide5.xml" Id="R160dc154fed045ca" /><Relationship Type="http://schemas.openxmlformats.org/officeDocument/2006/relationships/slide" Target="/ppt/slides/slide6.xml" Id="R7cff0ace17e54dc8" /><Relationship Type="http://schemas.openxmlformats.org/officeDocument/2006/relationships/slide" Target="/ppt/slides/slide7.xml" Id="R36394a55b2884423" /><Relationship Type="http://schemas.openxmlformats.org/officeDocument/2006/relationships/slide" Target="/ppt/slides/slide8.xml" Id="R5f70fc9ea4f54cd3" /><Relationship Type="http://schemas.openxmlformats.org/officeDocument/2006/relationships/slide" Target="/ppt/slides/slide9.xml" Id="Rbe1f41afdc194a60" /><Relationship Type="http://schemas.openxmlformats.org/officeDocument/2006/relationships/slide" Target="/ppt/slides/slide10.xml" Id="R306ceba55e0842e7" /><Relationship Type="http://schemas.openxmlformats.org/officeDocument/2006/relationships/slide" Target="/ppt/slides/slide11.xml" Id="R87bdbf550a8949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c9ed4436e9642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3407aa3af0421d" /><Relationship Type="http://schemas.openxmlformats.org/officeDocument/2006/relationships/notesMaster" Target="/ppt/notesMasters/notesMaster1.xml" Id="R4e81769621f841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8f3a10d4714b52" /><Relationship Type="http://schemas.openxmlformats.org/officeDocument/2006/relationships/notesMaster" Target="/ppt/notesMasters/notesMaster1.xml" Id="R7ee4da3baecf43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d621ef45084b7e" /><Relationship Type="http://schemas.openxmlformats.org/officeDocument/2006/relationships/notesMaster" Target="/ppt/notesMasters/notesMaster1.xml" Id="Rcda2271918dc48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da6e69b43f4e7a" /><Relationship Type="http://schemas.openxmlformats.org/officeDocument/2006/relationships/notesMaster" Target="/ppt/notesMasters/notesMaster1.xml" Id="Rfc66ef5616014c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943395bca64ce6" /><Relationship Type="http://schemas.openxmlformats.org/officeDocument/2006/relationships/notesMaster" Target="/ppt/notesMasters/notesMaster1.xml" Id="Rebc7e120727744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ac898ae73b4817" /><Relationship Type="http://schemas.openxmlformats.org/officeDocument/2006/relationships/notesMaster" Target="/ppt/notesMasters/notesMaster1.xml" Id="R974d3abe967c41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b991edabb14757" /><Relationship Type="http://schemas.openxmlformats.org/officeDocument/2006/relationships/notesMaster" Target="/ppt/notesMasters/notesMaster1.xml" Id="R4fc4c1f057f84c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e89ad0f363468f" /><Relationship Type="http://schemas.openxmlformats.org/officeDocument/2006/relationships/notesMaster" Target="/ppt/notesMasters/notesMaster1.xml" Id="Rdf40cfa2637246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c57f3bc560404d" /><Relationship Type="http://schemas.openxmlformats.org/officeDocument/2006/relationships/notesMaster" Target="/ppt/notesMasters/notesMaster1.xml" Id="R43e5d407c1ce4c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f3d9f10640442a" /><Relationship Type="http://schemas.openxmlformats.org/officeDocument/2006/relationships/notesMaster" Target="/ppt/notesMasters/notesMaster1.xml" Id="Rf6effd006bb846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ea97aad9c047d0" /><Relationship Type="http://schemas.openxmlformats.org/officeDocument/2006/relationships/notesMaster" Target="/ppt/notesMasters/notesMaster1.xml" Id="Re596efe2b2a246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5174cdfc8414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3d132d9cb244e7" /><Relationship Type="http://schemas.openxmlformats.org/officeDocument/2006/relationships/slideLayout" Target="/ppt/slideLayouts/slideLayout2.xml" Id="R665d4260770945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5d4260770945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2cb78fd4c544c9" /><Relationship Type="http://schemas.openxmlformats.org/officeDocument/2006/relationships/image" Target="/ppt/media/image.png" Id="Rae80b7e9e04545f5" /><Relationship Type="http://schemas.openxmlformats.org/officeDocument/2006/relationships/image" Target="/ppt/media/image2.png" Id="R80bfe6f8dbf042ef" /><Relationship Type="http://schemas.openxmlformats.org/officeDocument/2006/relationships/notesSlide" Target="/ppt/notesSlides/notesSlide1.xml" Id="Rd686fe1662ff4d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d04929e7b440af" /><Relationship Type="http://schemas.openxmlformats.org/officeDocument/2006/relationships/image" Target="/ppt/media/image3.png" Id="Rac833224fa2c4b8b" /><Relationship Type="http://schemas.openxmlformats.org/officeDocument/2006/relationships/image" Target="/ppt/media/image4.png" Id="R598787df514845d3" /><Relationship Type="http://schemas.openxmlformats.org/officeDocument/2006/relationships/notesSlide" Target="/ppt/notesSlides/notesSlide2.xml" Id="Rc70e73c3487642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67085bc6384045" /><Relationship Type="http://schemas.openxmlformats.org/officeDocument/2006/relationships/image" Target="/ppt/media/image5.png" Id="Reb6d627a3954427a" /><Relationship Type="http://schemas.openxmlformats.org/officeDocument/2006/relationships/image" Target="/ppt/media/image6.png" Id="Ra53fc8b6125c4877" /><Relationship Type="http://schemas.openxmlformats.org/officeDocument/2006/relationships/image" Target="/ppt/media/image7.png" Id="R5d452cd778f041f2" /><Relationship Type="http://schemas.openxmlformats.org/officeDocument/2006/relationships/notesSlide" Target="/ppt/notesSlides/notesSlide3.xml" Id="Re228fbb7cdf845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c0f723409848fa" /><Relationship Type="http://schemas.openxmlformats.org/officeDocument/2006/relationships/image" Target="/ppt/media/image8.png" Id="R3eefbee90bfb47bc" /><Relationship Type="http://schemas.openxmlformats.org/officeDocument/2006/relationships/image" Target="/ppt/media/image9.png" Id="Rff63230dd1f54c3d" /><Relationship Type="http://schemas.openxmlformats.org/officeDocument/2006/relationships/notesSlide" Target="/ppt/notesSlides/notesSlide4.xml" Id="R51c2617837134a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bc754999244634" /><Relationship Type="http://schemas.openxmlformats.org/officeDocument/2006/relationships/image" Target="/ppt/media/image10.png" Id="Rbed0a8e1911d4d14" /><Relationship Type="http://schemas.openxmlformats.org/officeDocument/2006/relationships/image" Target="/ppt/media/image11.png" Id="R6418d5ea4f9c4cdf" /><Relationship Type="http://schemas.openxmlformats.org/officeDocument/2006/relationships/image" Target="/ppt/media/image12.png" Id="R635a0868305e4f36" /><Relationship Type="http://schemas.openxmlformats.org/officeDocument/2006/relationships/notesSlide" Target="/ppt/notesSlides/notesSlide5.xml" Id="R89e8460d5dd049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7f3c2cde684eef" /><Relationship Type="http://schemas.openxmlformats.org/officeDocument/2006/relationships/image" Target="/ppt/media/image13.png" Id="Reafd79cb16a94a97" /><Relationship Type="http://schemas.openxmlformats.org/officeDocument/2006/relationships/image" Target="/ppt/media/image14.png" Id="R7525608da54b4414" /><Relationship Type="http://schemas.openxmlformats.org/officeDocument/2006/relationships/image" Target="/ppt/media/image15.png" Id="R1e3b5842016b4b46" /><Relationship Type="http://schemas.openxmlformats.org/officeDocument/2006/relationships/notesSlide" Target="/ppt/notesSlides/notesSlide6.xml" Id="R04f9166e002c49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b66d84249d42c6" /><Relationship Type="http://schemas.openxmlformats.org/officeDocument/2006/relationships/image" Target="/ppt/media/image16.png" Id="R39e75161fdb04d98" /><Relationship Type="http://schemas.openxmlformats.org/officeDocument/2006/relationships/image" Target="/ppt/media/image17.png" Id="R16368e0f46d14d08" /><Relationship Type="http://schemas.openxmlformats.org/officeDocument/2006/relationships/notesSlide" Target="/ppt/notesSlides/notesSlide7.xml" Id="Rf0137720aa294e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8046b12a524c90" /><Relationship Type="http://schemas.openxmlformats.org/officeDocument/2006/relationships/image" Target="/ppt/media/image18.png" Id="R3bf52af3454446ac" /><Relationship Type="http://schemas.openxmlformats.org/officeDocument/2006/relationships/image" Target="/ppt/media/image19.png" Id="R5303553839ff4763" /><Relationship Type="http://schemas.openxmlformats.org/officeDocument/2006/relationships/notesSlide" Target="/ppt/notesSlides/notesSlide8.xml" Id="R41db578fa6a64d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775429a9064055" /><Relationship Type="http://schemas.openxmlformats.org/officeDocument/2006/relationships/image" Target="/ppt/media/image20.png" Id="Rd8504cb0b3c24f04" /><Relationship Type="http://schemas.openxmlformats.org/officeDocument/2006/relationships/image" Target="/ppt/media/image21.png" Id="R7d1ad800cb6b4ee2" /><Relationship Type="http://schemas.openxmlformats.org/officeDocument/2006/relationships/image" Target="/ppt/media/image22.png" Id="Rd68c96a4c6594900" /><Relationship Type="http://schemas.openxmlformats.org/officeDocument/2006/relationships/notesSlide" Target="/ppt/notesSlides/notesSlide9.xml" Id="R1fa565222fec47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78ff69bac5453b" /><Relationship Type="http://schemas.openxmlformats.org/officeDocument/2006/relationships/image" Target="/ppt/media/image23.png" Id="Rc74e3d3c3ca24e2d" /><Relationship Type="http://schemas.openxmlformats.org/officeDocument/2006/relationships/image" Target="/ppt/media/image24.png" Id="R02c70db5c9c145cb" /><Relationship Type="http://schemas.openxmlformats.org/officeDocument/2006/relationships/notesSlide" Target="/ppt/notesSlides/notesSlide10.xml" Id="R153d0ccc741649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dadff390064ea0" /><Relationship Type="http://schemas.openxmlformats.org/officeDocument/2006/relationships/image" Target="/ppt/media/image25.png" Id="R20e9784f60ee4dd1" /><Relationship Type="http://schemas.openxmlformats.org/officeDocument/2006/relationships/image" Target="/ppt/media/image26.png" Id="Red95b58555af4a02" /><Relationship Type="http://schemas.openxmlformats.org/officeDocument/2006/relationships/notesSlide" Target="/ppt/notesSlides/notesSlide11.xml" Id="R41f9b1403ee94b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0b7e9e04545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fe6f8dbf042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5F4B3-9AFB-4A91-A4B6-312EC9F0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8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47C4C-7DDE-42C0-AA42-217D0065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98450-F246-43F5-969B-3F700297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C50B3-52B4-4E07-951F-B93BC788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F1736-1C1E-4766-9835-C8400338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B7159-2DB8-4B00-8DAE-3A7BBCCF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02697-016E-4C87-9044-03CF96A2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10A83-0BF8-4F05-9486-C407459F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12507-A056-4DE7-939C-68BB49F8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D65D2-460C-486A-9C9C-F31F67E1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3816F-5E7C-4E90-931C-A51F1FDF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3D36B-EE99-44F2-B46C-CD5448DD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2108F-B72C-49D2-A8C2-A6D714F0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4F9C0-0C91-46D5-8616-6055F629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788E6-5A21-48C2-B9B9-4D1BB2FF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FE246-1CB9-488F-A077-2C312E27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8E978C-1203-4743-9979-B107D67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6841A-B304-463D-B210-D3527146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E9F20-7425-4DFC-ABDE-1D613BDE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5D33DB-10E8-4266-A5C5-7BF3BF76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499141-280F-4CAF-9498-39079A5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717746-C972-4DA6-A2A2-11ECCF08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E84B44-94A7-403D-B586-80EF08A9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1045C9-5E7B-4DA8-84F4-0AEBF6C2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FBEFC8-C30B-465C-8838-97EFB880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EEA82E-448D-4583-A3EE-632A7104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8C277A-8F6B-4BE5-8DCA-D08A4220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E71C85-A78C-44C4-B89F-80339F75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2CEC28-6F5E-4403-8764-E4858DA5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C05EAA-297D-4620-B9CF-2EC0ED18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2293A-E8E2-419A-881D-4F56FF09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9C675F-38CC-4817-B775-854786B7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07EDEB-CCE7-44B6-ACC3-68928FD2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7C8B15-B68A-4856-83E7-63D80222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31AF09-398F-4064-BFF1-E24542BF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131B79-21EE-4F99-B384-B7D9318B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1397F1-768C-4309-81D1-7E6E5AA4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9BE53C-7856-49BC-9260-D618A887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B336CE-CBDE-43CA-B633-A8553058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F91500-8C22-4578-88EB-20C9A69B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8BFA22-FF89-4CEE-8C12-FD3B4AA5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DF5C43-BC04-4A1E-957D-4A1FD08E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CF319F-08C7-41AB-B587-5C6A661D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9F6F44-0442-44E8-9513-5F18AABD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29EA2F-F700-445F-836B-29742C0B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4F6DCB-4128-4A8F-9143-3A856FC5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D68158-B5D8-457F-B20B-6CDCE2DE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23A12E-D559-4BD0-9FE0-055AEABB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EF997E-35DE-4C5C-BEC6-B2FE2702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55FC2C-FBD5-477F-A8CC-5F13CDD3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2763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北邮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CB7C76-7365-453D-9960-C218BF00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526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VIKI-R 论文汇报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E9E06E-44CB-412F-9B26-1A849CFB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861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用强化学习协调具身多智能体协作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6BAA04-EC25-4204-B4F6-E492237E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85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C36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C3630"/>
                </a:solidFill>
                <a:latin typeface="Microsoft YaHei"/>
                <a:ea typeface="Microsoft YaHei"/>
                <a:cs typeface="Microsoft YaHei"/>
              </a:rPr>
              <a:t>BUPT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A3EE3C-E7CE-4308-8FBA-8B4DE56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5DAC1"/>
          </a:solidFill>
          <a:ln xmlns:a="http://schemas.openxmlformats.org/drawingml/2006/main" w="9525">
            <a:solidFill>
              <a:srgbClr val="8B927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E00F4D-5CE8-4138-9FF6-91436978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7675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汇报人：陈俊宇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F645CA-CCD1-4DE8-A114-A5DA587D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5DAC1"/>
          </a:solidFill>
          <a:ln xmlns:a="http://schemas.openxmlformats.org/drawingml/2006/main" w="9525">
            <a:solidFill>
              <a:srgbClr val="8B927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0C268B-E4CA-472A-B89B-8A161A27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7675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组会汇报</a:t>
            </a:r>
          </a:p>
        </p:txBody>
      </p:sp>
    </p:spTree>
    <p:extLst>
      <p:ext uri="{BB962C8B-B14F-4D97-AF65-F5344CB8AC3E}">
        <p14:creationId xmlns:p14="http://schemas.microsoft.com/office/powerpoint/2010/main" val="1026918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33224fa2c4b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787df514845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6D953-1EFD-4ACA-8F60-F6EE7A82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8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9FCE2-C54E-496D-A038-F0E19C1F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1E561-54E2-4DE5-8B54-A304C196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ED09C-CA3E-4005-BAFC-8C68F60B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E6D04-B629-49CA-B2B5-5445D6A1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E3A6B-DC92-46AC-844D-ECB55448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7C9C4-1FE6-4133-A8B3-0FCD86A7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270D8-6E0C-46D6-B34C-57E4FDA0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01B4B-2EA2-49B7-ABDC-36D1A078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4CB73-3054-4191-A298-EC180EBF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539F4-6A80-4048-A48B-CF8458AF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CC470-D9CB-4911-940A-DE772B0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3616E-8C78-406A-A709-7875BF67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0876E-CB49-45EC-A38B-F28B3F54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C3277-086F-4136-ABBB-125C6C43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F0B16-4CA1-489C-B817-054970C5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0176C-7190-4F22-8193-1815D95E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0F53B-D181-4447-BA62-B6F92FED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B4E0A-75A3-42C0-B1F3-25EB791D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4EB8E-9992-4AB9-AF99-EDA5EF2E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7FC781-ADA1-4002-AACD-4F2D41B5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AF1D5D-2DFD-413C-A87E-E921FF7A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C8B44-8579-471F-BE3D-13D11438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FB894F-0680-48AA-AC1B-9C9247F7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A93D2E-73A1-4E6F-BDC8-06976E42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77798B-F99C-4D89-AE9F-C96BB4C5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4492FA-DAE4-42AD-90CD-69AE83C4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6E1F7F-57D8-48DA-A8BA-A9458794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216AC8-63B4-4AFC-A2E5-6638DBEC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9D37D7-05C5-4134-BD74-6FA77174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57F46D-A597-4CD7-9E5D-FAE9CAB7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AFBBD6-1602-43FC-85BE-74B148BF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7820F9-D293-4FB2-B8EC-59A01BFD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19C6BB-20C2-48CA-8F58-8F914D4D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812FD3-DA8B-4BED-891F-18CF2EB2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0043A2-367D-4A83-806E-7C00BCC8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3EF111-9856-4B81-A46E-D0B0F4DB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DFD1A3-4733-4219-A5A6-98CCB919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992B3D-6F08-433E-BCCF-CBB02FE4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B898D6-0A96-46D6-86E1-F10CF458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FD718A-1FA3-4B56-BDDF-1741CAF2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4ECCC4-0D39-4EDA-9FC9-56FCD07C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78FCDF-D205-4353-89F1-27EB0DF3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3DF93D-0D59-485C-87A7-F044581D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18533D-8C55-43C4-A74E-605D6968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A69F17-DBD7-4276-815A-1AAA4EFB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330661-C388-4F1E-8D20-65CBAC3F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1D5062-9B00-4DA7-B78A-B232F59F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2D06B8-F89E-4CD7-B008-05C6794C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E6EF8C-6DA5-413B-8473-18913955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3238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FC51B1-58EE-43F9-8388-576494A8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10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3ADCA7-00F2-40D6-8CCB-CA18A088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968EAB-EC97-427F-AA9F-AFF25CD5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85950"/>
            <a:ext cx="723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B9D4AE-DDE8-4421-BCAD-89EDF24B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723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4706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AA1C5E-5419-4464-AB6F-23407A15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E40320-AA96-4259-AEF5-620270CB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0275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研究背景与问题定义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BA7E81-AE80-4761-A0D9-5FD8B7C8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8BA662-B01D-44AD-A3DC-1DA936C3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90825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VIKI-Bench：三层评测接口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75B885-75C3-4EFA-A1A3-C87C4639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066CB5-D08F-4496-92F8-737D90B1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81375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VIKI-R：SFT + GRPO 训练方法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F22AF0-09D2-4387-8472-C6C4E146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6D7DD3D-20EC-4AB3-B3E6-15658C90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71925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实验结果、消融与讨论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650385-72C2-4F72-9571-1E999B32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34050"/>
            <a:ext cx="944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5DEEA1-7685-4571-AB42-79D3F6DA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57875"/>
            <a:ext cx="891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rPr>
              <a:t>主线：先定义怎么测，再说明怎么训，最后回到能否迁移到自己的研究。</a:t>
            </a:r>
          </a:p>
        </p:txBody>
      </p:sp>
    </p:spTree>
    <p:extLst>
      <p:ext uri="{BB962C8B-B14F-4D97-AF65-F5344CB8AC3E}">
        <p14:creationId xmlns:p14="http://schemas.microsoft.com/office/powerpoint/2010/main" val="11677347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d627a395442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fc8b6125c48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8BE3A-D69B-4211-AA6F-0D534282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8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71436-D25E-406C-AC8D-5E779639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FD2C4-60A0-448B-94AF-E423E678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B5011-EED4-44EC-B695-5C07AA90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C09EB-7D04-4849-A5D1-4C082C00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66A7E-A20D-42FE-BBC9-3923741F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FC69B-C6DB-4392-A4BE-CBCF4320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CB44A-8907-4B68-AA03-8C47515A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85347-D18E-4234-8B7D-C7C5A85E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48E09-9532-4D75-9045-C2980E51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7859C-9F3F-4468-838A-BD18EEA5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CAD23-7545-4C51-ADE1-642C5E02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B8DFC-326F-4514-BCDE-A8108CE1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CD3D7-3B4C-4DE9-84D3-B9A35C3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CF6B4-AC6B-4B0E-81EA-82D4E24D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4B0BF-D41A-4788-B461-F8C5F2BC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A5CE2-43E9-4D4E-ACBF-6AEF0F0C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0C2FB-16AF-428C-AE5C-CF7B3A12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DE5CD-BAFC-437E-B63A-C0D64735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74088-B2CC-456E-9550-AE597E63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E9C37-3DB8-4478-930B-AD1B618D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B0635-791F-47BE-A17F-9F7857F0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9C6E8-559C-42F5-BA27-BC95F480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1616EE-1315-466D-8F1E-7B06CD2A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EBB1C4-5B3A-4606-BC5F-72D5DB99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3558F5-75A0-494D-95E7-EFD835FB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6BC6FD-963E-47C2-947E-F3DB2B25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06DFF-BE99-4591-8C57-2CA158A4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DF1F5D-ACF1-4147-90D5-7015832E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E88EDC-2A86-4AB6-9A6E-A6745911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6461F4-537A-4336-AEAC-DD6394FE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961150-5C32-4B25-AF36-258C5057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4481DB-9968-4DAB-A485-EB585A12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D0D5B1-D841-4BB7-B974-C7464448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EF53B5-3100-46C8-9152-B5C613F9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205722-452B-40FB-BCAB-4132D584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34E576-C537-4D5D-BBF8-67328B1F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A5BDD0-744C-4495-801E-A3E9EDC2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E912A0-498C-4AB8-AD65-7FD21E3E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06811B-1685-4CFE-90E8-6984F3FE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AA8F60-4E28-47AC-931C-5B9CAEBC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AB96CB-2515-405F-9C79-0FFB2349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D33B55-FEF8-41B1-9F19-2C3141B1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105806-B1F9-4366-A727-AEAE7CAA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E74DDF-CBEB-451F-AAD4-B75C32F4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2510F5-58B9-4C04-9A83-6DBDFC47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7A48D4-663C-4AEF-B9FF-A822763C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B37EBA-93AE-489A-A162-229F2486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A13721-4F7F-4E3F-9E7F-AAFBB08C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E3F924-A1E6-4D4A-8B1A-26D86756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3238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F2197F-879E-4E51-A17B-F7A3D75B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10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研究背景：多机器人协作为什么难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8781C9-7BB5-4581-8980-FAE2B6C5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314BAB-0B53-4753-BB31-BE4EFE48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6115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A5E0CD-34EB-4223-8DE5-A391AF9F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6115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52cd778f041f2"/>
          <a:stretch xmlns:a="http://schemas.openxmlformats.org/drawingml/2006/main"/>
        </p:blipFill>
        <p:spPr>
          <a:xfrm xmlns:a="http://schemas.openxmlformats.org/drawingml/2006/main">
            <a:off x="1838638" y="1638300"/>
            <a:ext cx="5295274" cy="247650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572847-8738-40C2-87F9-C5206663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67200"/>
            <a:ext cx="556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图中同一任务需要多个不同身体的 robot 协同完成，模型必须同时处理场景、能力和动作顺序。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0B4653-17AD-48E5-9C19-3B6E4194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907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C8A983-1D27-43DC-91CE-09561589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 选机器人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DC2F1CB-BDF1-4C76-A717-A54685AC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851B83-B755-4C70-831D-FE3EB3F5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 排动作计划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A14339-639D-450D-87D6-511D58C6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758D17-6605-422B-97CE-B47F419D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814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L3 看轨迹结果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DE546EE-F441-4214-A0F1-1171C847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343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VIKI-R 训练的是 VLM 的结构化协作推理输出，不是直接训练控制器。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4BC132-8807-45FD-B110-8D1FFFAD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34050"/>
            <a:ext cx="944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D0BB64-7E06-495D-9E65-3765132D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57875"/>
            <a:ext cx="891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rPr>
              <a:t>核心需求：把具身协作拆成可评测、可奖励、可复现的视觉推理接口。</a:t>
            </a:r>
          </a:p>
        </p:txBody>
      </p:sp>
    </p:spTree>
    <p:extLst>
      <p:ext uri="{BB962C8B-B14F-4D97-AF65-F5344CB8AC3E}">
        <p14:creationId xmlns:p14="http://schemas.microsoft.com/office/powerpoint/2010/main" val="5851591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fbee90bfb47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3230dd1f54c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27736-83EB-44CE-B159-320F952C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8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40136-A3BB-48E8-934A-E848758B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E4ED9-E096-4BD3-8C4B-36FEA880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851D0-B0BB-4DC9-85F5-59434CE6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138E6-2620-4E95-9E18-DDF19A2F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83B91-D6F8-47E8-92C9-E69E6E56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AA101-B89B-45C5-BBE9-3757F199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447D9-AE90-4CB5-98F7-D9ECF039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EA7D5-5D7B-4030-A4C4-11DCE202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69117-CB73-4E56-AD22-FB6F7667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22C0F-D5A9-47A0-8164-1D0C99C7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4C075-A687-4910-AF63-BCA944AA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10AD3-EBDD-46A1-AB16-9C36A4C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9EA89-DCF4-4570-88C8-CA9470A2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3E570-99E3-498A-9D78-B136AF65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7EE7B-543B-4D20-BEB1-3C88D388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1EAA7-273B-4BD9-B60E-93237F99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A4FB8-07C6-4822-AD7D-630FEB3F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596FA-5E68-4C08-8D8B-EEDD285C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5556F-00A9-4E5B-94F2-91A4A0F2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7E487-9AB6-4CF3-80C1-1DF440B4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5CBCC-6B98-403F-AA38-2DBF5FD0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7D98E-9525-4142-85CE-5FD70881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13DA6-F1A9-4D7D-A958-7E5A50BF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9AD4DE-6CA7-49B1-B7F9-124C336D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F57BB-5A07-492C-8709-9BBC99DA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AB91CE-87BF-4A41-B535-AA1F3852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0E6963-5953-440A-89B8-689BF516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98795A-F9D9-461F-BD14-76859D38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69257C-2C6F-453A-89F9-C1E0FFD7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C59584-A13A-4306-BEB2-6D5B8CDC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F02121-B614-423A-B1DA-5BCA999B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EA697F-0912-4002-87C7-A15C96A6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8DE746-5207-45C3-80CA-9157EF10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649866-8466-4763-BB17-63CD18BB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993AB0-0BE5-41D1-B3A4-684E84DA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1DF60B-EAE6-464C-937B-2111ADE3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29DABB-5CFD-4AD2-B327-3A5A6AED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F255EF-CEE3-40B4-95D5-885A7FD6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A68BF8-F256-459C-B757-0FDAE8CC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4BD466-E8A6-485B-9A77-9E002E27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155A52-C1E7-44B3-B188-529A8050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05255A-6654-4E85-BC78-946BC2DE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ABD4BB-1384-4441-9714-39B7BFDC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180F42-4ABE-4248-A0C7-C6EAA930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610B22-E87C-43DF-BB95-5265F9C3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87BF49-C277-43F8-8046-5E0B50C9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F6C963-91E3-4B14-BBF9-849F9138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2D53D3-1BED-470C-A30F-BC3A7F8F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F67B03-F1C1-4FFA-9DC0-674AA722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3238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A0738E-42B6-4C0E-86F5-171C4D22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10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VIKI-Bench：三层评测接口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829DF1-0C77-4EAF-B44C-48912DDF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1D4554-9C21-4C37-A9EA-92F751DB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76400"/>
            <a:ext cx="851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2467A5-62AC-4F6F-8955-1E4C3FEA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00200"/>
            <a:ext cx="851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B0478E-7686-4F62-860F-190FBE6D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00225"/>
            <a:ext cx="647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CF1DB3-3DA8-45F6-A2C6-B7AAC66C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7642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AA37DF-1D70-430A-84AF-3B1CC682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716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Agent Activation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84CBA6-4E7B-45E0-BD47-05004FE1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335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输入：全局图像 + 指令</a:t>
            </a:r>
          </a:p>
          <a:p xmlns:a="http://schemas.openxmlformats.org/drawingml/2006/main">
            <a:pPr algn="l">
              <a:defRPr sz="99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输出：robot set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F4AE9F-5806-40CE-9CE4-DECD5AA7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0225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82832B9-FAFA-4C27-8C74-DBF5D38A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1562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指标：Accuracy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FF0A1C-61F2-4FB9-BCF9-08FA8415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3200"/>
            <a:ext cx="851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6C1B43-723C-40F2-A928-F82FD30C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851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7529D1-DB3E-43B9-ACC0-EDE31F3A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7025"/>
            <a:ext cx="647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9908D7-4438-49EB-A5F9-C493FC80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4322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AFB1111-BD56-4933-B293-01AA1E7D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384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Task Planning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CAA094-4A2A-4936-8E7F-9D4B99DA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输入：场景 + primitives</a:t>
            </a:r>
          </a:p>
          <a:p xmlns:a="http://schemas.openxmlformats.org/drawingml/2006/main">
            <a:pPr algn="l">
              <a:defRPr sz="99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输出：multi-agent JSON plan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28DE39-4892-43FF-85D2-1BB834C6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67025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B249ADB-52EE-4B27-A1C4-4685C166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43225"/>
            <a:ext cx="1562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指标：ID / OOD ACC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7888D96-A9F3-4C9E-8149-9B55F2F9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851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B26944-2A2F-40E4-BB79-31235005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851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1565E66-75A6-4EEB-A05D-0AD95069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33825"/>
            <a:ext cx="647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FDA8556-ABDC-4073-AFC5-665DE61C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1002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2EE69B-B04C-4D98-A9A5-13169348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05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Trajectory Perception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696674D-79E3-40ED-BCC0-E2B50A8D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671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输入：ego-view + action</a:t>
            </a:r>
          </a:p>
          <a:p xmlns:a="http://schemas.openxmlformats.org/drawingml/2006/main">
            <a:pPr algn="l">
              <a:defRPr sz="99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输出：2D trajectories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3E555F2-DDE8-4242-B02C-25190164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33825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0E7F6B-04FD-4647-ABA6-6F4A22D0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0025"/>
            <a:ext cx="1562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指标：RMSE / HD / DFD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E6C969F-0CA1-4AD7-B0D5-89ACE7BC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34050"/>
            <a:ext cx="944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3EF7DE3-C7B2-4CD1-9C2A-175C03E5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57875"/>
            <a:ext cx="891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rPr>
              <a:t>读法：后面所有实验结果都按 L1 / L2 / L3 三层分别判断。</a:t>
            </a:r>
          </a:p>
        </p:txBody>
      </p:sp>
    </p:spTree>
    <p:extLst>
      <p:ext uri="{BB962C8B-B14F-4D97-AF65-F5344CB8AC3E}">
        <p14:creationId xmlns:p14="http://schemas.microsoft.com/office/powerpoint/2010/main" val="7088221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0a8e1911d4d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8d5ea4f9c4c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D83D2-F01B-40C2-9FD0-33BCB7A7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8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9F192-4F21-496A-9D13-F87FF6A9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6C18E-2AD1-4A67-93D7-3BAA9496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A50FC-5569-4101-ADFF-CDEA08E6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ACD4F-55D7-4660-8F2F-F40225A7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10184-5993-4E34-BA29-6E7C902F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92462-E52E-4303-92D2-E1CB1EC5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864DD-8569-4BE1-8985-79690A73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50440-0579-4C49-B8AD-24A3F454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39696-474C-4207-91F7-CE4DBB41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DF695-03BB-43D1-A870-B4897658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B40F5-E95D-4187-AE03-C35D4AE2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8851A-45FF-48DD-8594-43D0FA7D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56600-8561-4DDB-AF71-584E6D5E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EAD17-C05C-4E72-A20A-F8FB410E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DA3F24-5642-40F9-8877-079833A6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D9C93-9914-4625-84EA-D5FD8D13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C9B28-32E8-41F4-99FD-AF8EEE31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44885-E659-4BE9-B2A6-41E6EED7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6641E-ECDC-4BAA-99CD-B4A368B4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8B5945-0628-4E64-85CE-43C164B5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B893A-F3F2-4F7A-BAE2-5D31988F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53F5CE-7B78-4717-97CC-2F40EA45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AAB15F-8BED-4F01-857A-82412B72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F44AAE-E4AA-4E86-BFF9-231355CD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C635B2-8677-4076-B447-93CEFE75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6CB105-91ED-41AF-9D66-093A1D86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F77090-BB3A-450F-97AA-E6434567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18E12A-31B1-4C9B-920A-B772B7C1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E95C6B-B2B0-4603-9D26-FAED2DD9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CBEE97-4AD7-4867-AF63-FE8A0F4A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48DEB2-0D85-44D3-AFB1-DE1A4726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7D6F4B-03D8-4D87-B151-5827C56C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DE9F2F-D95E-43CE-8AB9-E6FEDBCF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91E358-990C-474F-A3E4-4A37C338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E9AA14-303F-425B-B3B7-CE257D44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483C70-56E1-44F2-BC12-25183563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D1D298-DEC9-42C4-A4E1-8A273024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1BA2E2-9E76-45F1-88A6-4A5228EB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495F8B-6D9C-47AA-AF6B-7AD2708F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215EB6-6A51-4D99-9C7C-AB05D9E7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012CE7-EC4A-478E-9E02-7D71AEED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86EF4D-351B-4D91-BE1B-53BFF69D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6B05EC-45DB-486E-ABED-F4DDB804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8EE031-A27D-4BD0-9ED8-6476E883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971FB9-BE94-4D93-8FD9-30674EE8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A873FA-4EEF-4FA6-B73B-14074F4A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1FB78E-D4DE-47E8-B227-EDF5E5E0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3FFD0F-DF98-4046-85C2-46A3CB76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182BD0-C5BA-49CB-A1FE-79ECAF3D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3238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903C7B-A25F-4779-900D-41EA1E1E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10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数据构建：结构化生成，不是无约束采集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FA40C1-E863-404A-92D3-1172ABE7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08E477-89E4-4F83-A147-33748C6E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567AAB-D3B4-49A3-A85A-A934B139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8115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7BB715-EF5C-4112-8855-09BBCC66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621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任务模板</a:t>
            </a:r>
          </a:p>
          <a:p xmlns:a="http://schemas.openxmlformats.org/drawingml/2006/main">
            <a:pPr algn="ctr">
              <a:def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能力规则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803637-1736-4728-B84A-D18D8898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954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B0F914-4D95-4F95-AC60-5531337F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43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983D5D-D730-4239-9E9F-FB81D856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0495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90D5AA-F27A-42E5-8C7D-5501CC04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8115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GPT-4o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E2BD1CD-BD9B-4185-AE28-3EB46C38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621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生成 activation</a:t>
            </a:r>
          </a:p>
          <a:p xmlns:a="http://schemas.openxmlformats.org/drawingml/2006/main">
            <a:pPr algn="ctr">
              <a:def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和 plan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C3FE30-E51D-44EE-9B10-A86B50BB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549201-197F-4E7E-9D23-33DD6D48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43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6F61D7-10D3-4CEA-A616-36F6A5FE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0495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67B583-EC57-4E08-8A7A-718C1BE1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8115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Checkers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BE54797-1986-4EDE-8130-85D8BD16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621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动作可行性</a:t>
            </a:r>
          </a:p>
          <a:p xmlns:a="http://schemas.openxmlformats.org/drawingml/2006/main">
            <a:pPr algn="ctr">
              <a:def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目标完成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32ACC1-CF8C-4F28-9B75-6D1049DA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954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FB0F9E7-E07D-4803-A1FD-5F2775CF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43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420AA1-2DF8-4595-82B0-B7F0E766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CC8C681-98FB-4F7F-B69F-C13AAAFA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8115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Simulator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1FF1E4-C93B-425A-BFF1-BFDEC146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621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状态 rollout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D0C0C36-3481-4FF2-A170-ABF0B8CC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954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B6947F8-56AE-4C81-AD10-D6C243B4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43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945F9E1-184F-442E-837A-0D0EA88A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48A205D-B3CA-4FB4-B966-59A391D0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8115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Human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AE83EA8-666D-45CC-BFB9-475CC455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人工修正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D69DCD8-258A-44C0-BB88-CF00AEF5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57500"/>
            <a:ext cx="3905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444F82-ABBC-41A0-8F4C-8C60A86C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81300"/>
            <a:ext cx="3905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04BC30D-E876-467D-8BC1-2A4DD61B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43250"/>
            <a:ext cx="346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10,714  L1 activation     10,714  L2 planning     2,309  L3 trajectory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a0868305e4f36"/>
          <a:stretch xmlns:a="http://schemas.openxmlformats.org/drawingml/2006/main"/>
        </p:blipFill>
        <p:spPr>
          <a:xfrm xmlns:a="http://schemas.openxmlformats.org/drawingml/2006/main">
            <a:off x="6650069" y="2686050"/>
            <a:ext cx="2778062" cy="1466850"/>
          </a:xfrm>
          <a:prstGeom xmlns:a="http://schemas.openxmlformats.org/drawingml/2006/main" prst="rect">
            <a:avLst/>
          </a:prstGeom>
        </p:spPr>
      </p:pic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25842B7-1FD3-4218-8CF8-24185699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5770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风险：真实环境动态反馈、噪声和分布变化被压平，不能直接等同真实闭环执行。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E8EDFE0-D9F2-496C-AD3B-03ACAFB1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34050"/>
            <a:ext cx="944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49E09B8-4321-490C-ABDA-9290DCF6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57875"/>
            <a:ext cx="891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rPr>
              <a:t>优点是规模可控、指标清楚；局限是 sim-to-real 仍需单独验证。</a:t>
            </a:r>
          </a:p>
        </p:txBody>
      </p:sp>
    </p:spTree>
    <p:extLst>
      <p:ext uri="{BB962C8B-B14F-4D97-AF65-F5344CB8AC3E}">
        <p14:creationId xmlns:p14="http://schemas.microsoft.com/office/powerpoint/2010/main" val="1999513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d79cb16a94a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5608da54b44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62E83-99FB-4934-812B-E50390A3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8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F4967-C1E4-4415-BA16-20780089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99E75-2610-4211-B25C-786FEA62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94A11-179F-499F-B4C8-A54740A6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D7CE1-A6A4-48D9-A429-2CB219EF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85F6B-ABE1-4E42-A833-9EE43F5D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36A73-914A-48B7-A1F8-2938AF19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E1A26-E25B-42BB-A02B-9A9C1F5C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6B7FD-0159-4127-A750-04B3C168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E7DFA-F2ED-400A-8CD7-B2C27447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FAF1F-33DD-44E9-813E-ED6E57C9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0BA4F-F4DD-4C48-B86D-B751F9CF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2594E-8A87-4FC4-8631-50F8FC53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40638-4342-4EF5-BB2A-5FE468D2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6B2F6-A62B-4213-9F1B-A6C1BBD9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A19E0-ABC2-44D3-965A-97CC2CA0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77486-96A9-47F8-91F0-A567C4D9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25D58-8C77-4B00-ACE0-21147E78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326DB-7F36-4A3F-BA70-E0F89FA2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29A0F-C186-4A2C-B79B-CDC3A44E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49C0D-D7B7-4FE4-BD66-85763FEA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EFA0C-8815-4ED5-80DC-995D04CC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A54D8-7988-41E6-ADA1-42FA8A08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03890-176E-4043-B10B-EC7E0E6A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F1ADCD-4180-476D-84DE-89F17AEB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803315-66E2-47CA-86FF-9CAF93C5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D664A7-46DF-4280-A435-796DDC24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FC31A8-3C75-4B03-BD29-1C289463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2DBAC1-98EF-4CC9-AF5C-2D1E495D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F954E6-EE92-488E-8A30-B41FEF5D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E6C5E9-1836-4FD4-9B49-00DBD8AD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C42CD7-09AF-4E7B-B2B6-6482CB69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FB2C33-52EC-471D-81F9-522E3C0C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66D913-21EA-4BB4-80DD-544A5BD5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FE764A-267E-4619-8B99-9F016761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7CC916-7CD9-4684-83D3-F5A464AE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82C745-6D87-4151-948F-30B91036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225492-AAD3-493A-9BF1-3DCFDED6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6B4056-2EAC-4958-B777-711843A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76E4FD-298A-4DBC-AF70-F14CA0B9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72E491-6B80-44F3-ACAE-A8F783EF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BBB2C6-D7F6-43E8-8E17-62FE1355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3DC0B7-FD9A-4303-BA0D-204AE942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32D925-D60A-4C4B-99FC-6704C187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06AADC-9E6D-4324-B3FB-EE599B37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24AE47-4316-4493-97A9-AC04EFD9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A5B2E1-2498-4B08-8C1D-8F2F8305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BD032B-1587-4508-BCBD-5134CBA4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BFE25E-7F17-44AD-A249-271160AF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1C4675-0D82-42C8-97D3-9155350C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3238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A44E50-B0BA-4C24-9C67-37CCB61B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10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VIKI-R：CoT 冷启动 + GRPO 层级奖励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179CDA-6B72-4B40-B389-64D7CC8D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917EE1-746C-436D-9AFE-F1747B39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240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78B542-4FA0-46CF-93E1-BD0A0AEF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02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SFT warmup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A03DB6-6DDF-4D0A-A09F-82E7CCCE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812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少量 CoT 标注</a:t>
            </a:r>
          </a:p>
          <a:p xmlns:a="http://schemas.openxmlformats.org/drawingml/2006/main">
            <a:pPr algn="ctr">
              <a:defRPr sz="101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先学输出格式和领域推理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83A4F9-51B0-494F-A71A-89444072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335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C00098-D650-4FDA-80B5-CBDA3CCD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5811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6E1E47-A127-45D0-BB2A-EF126AFE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FE6234-1312-4AF8-A4CF-24AA23A2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002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GRPO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10E7B0-87D8-46D0-AADA-E98CCAD3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同一输入采样多组回答</a:t>
            </a:r>
          </a:p>
          <a:p xmlns:a="http://schemas.openxmlformats.org/drawingml/2006/main">
            <a:pPr algn="ctr">
              <a:defRPr sz="101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用组内相对优势更新 policy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DCA14C-30CC-4D91-8378-7C76CF3E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F6B20A-317A-4CC3-A32F-D118D35B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811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4061DB-24A9-4CD5-9301-90C915E6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4E3FAB-CA36-4EB6-A098-FB1301BA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00200"/>
            <a:ext cx="1581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Rewards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2958FCF-6213-446E-9736-95941C96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4310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Format + L1/L2/L3 accuracy</a:t>
            </a:r>
          </a:p>
          <a:p xmlns:a="http://schemas.openxmlformats.org/drawingml/2006/main">
            <a:pPr algn="ctr">
              <a:defRPr sz="96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KL 约束防止偏离过大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6ECCB4-CE10-44D6-AA1D-15FAEB6D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67050"/>
            <a:ext cx="6057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5B0A5B4-F628-47E5-8E83-1F6CD6FC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90850"/>
            <a:ext cx="6057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b5842016b4b46"/>
          <a:stretch xmlns:a="http://schemas.openxmlformats.org/drawingml/2006/main"/>
        </p:blipFill>
        <p:spPr>
          <a:xfrm xmlns:a="http://schemas.openxmlformats.org/drawingml/2006/main">
            <a:off x="3350561" y="3181350"/>
            <a:ext cx="2557177" cy="120015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FE30CE-8BB2-425B-9579-12854560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注意：它训练的是 VLM 的结构化 reasoning 输出，不是直接训练机器人控制器。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0E5E107-E50B-439D-B817-C0306028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34050"/>
            <a:ext cx="944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46AF871-DB83-4BAB-BDEB-42C6EDFE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57875"/>
            <a:ext cx="891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rPr>
              <a:t>核心方法段：SFT 提供可读推理轨道，GRPO 用层级 reward 提升可执行性。</a:t>
            </a:r>
          </a:p>
        </p:txBody>
      </p:sp>
    </p:spTree>
    <p:extLst>
      <p:ext uri="{BB962C8B-B14F-4D97-AF65-F5344CB8AC3E}">
        <p14:creationId xmlns:p14="http://schemas.microsoft.com/office/powerpoint/2010/main" val="15809192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75161fdb04d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68e0f46d14d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69980-64A6-48AF-A814-A873ED61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8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0E4E1-03D7-4D4A-A85D-988D2E61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6396C-AE1A-4955-B3A0-E84668E5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C80E8-A497-494B-AEAE-AFF8B9A7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DEB8D-88EB-491F-9825-EC8278DD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E4914-BB78-4228-A95C-2DA7EACF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FF8EC-BC6D-4B0D-875E-C52655A5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182AB-3B1C-485C-B872-ECF57E0C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110FE-1B94-431C-A281-28CC854F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8ADAA-BE2C-47A0-8240-6B931422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D5E52-DDBA-47B7-BC38-A8782E0B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4B4D3-7023-48EF-85C7-C1594915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147FB-5CAD-4C06-877E-72596F2A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A5860-1976-4393-8CEB-B0A46EAC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7F4DB-8C61-4346-994F-AF1AAE4C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47212-0816-4864-908E-C56979E8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0AE37-8C0B-4915-819A-A1D6318C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3ABB1-384F-416B-BF66-4DE18334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7FC10-A0E0-41DB-8663-5E001FDA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3C921-87FC-4E78-9353-5C7D4B00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1F0E61-67AD-49BB-AE7D-1F7BE79C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C53342-9492-4812-8226-D60FEBFF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990197-835B-4ED9-8280-2B1F0B4B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2FB24-9A33-4607-8AD5-B36DA5D9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87FCE9-F77D-49FE-B3AF-1E242524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FAED67-071D-4E55-A487-42CAA08E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10B986-21C9-4E02-86C5-E60C3A77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3E2352-C9BD-4C12-968D-761161A7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04E632-8855-40FC-86B2-F9506EB6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A3447D-63E8-452C-860B-7B605B20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07F968-90D6-4B39-A2D1-38907D7A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220A84-67DD-4394-B839-04B1D7BE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15BAEA-1F22-4365-A382-9FD3D4D9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638FE9-7F7B-4F9D-AD96-A4DDDD2C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32523A-45AA-434F-9BD7-38522A25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9AF477-DBB3-47A0-BD8F-C7FE95A9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E23079-20F2-4A6C-AC09-3B9193EC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750D0F-592C-4F7D-9C5B-17F06A59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98E372-4956-49C1-9C3E-4A9A7C7E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8CE68D-921C-44DD-975A-404A7C94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53C70-0E9C-45D1-9273-B5279D60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701A43-2003-4AFC-8B38-B144B86C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D5486E-F94F-4421-9C98-A8DC310D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972E14-97DC-4601-AD45-D49E9AC1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8C398D-F363-47E9-BADE-9A2D4197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A4084E-9875-4F4C-898B-A8FB95B1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45F16B-F5CB-4A06-BE96-05E78166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05645D-65E0-4B76-8782-15D24762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98DFF0-B08B-47E3-B4FF-9533ADCF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78F805-3E35-4F8A-946B-C4F0E22A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3238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B6D6BD-EDE9-4135-BECB-F09F054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10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实验结果：L1 强，L2 泛化难，L3 有改善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344479-1002-4F4E-A49F-95DC3072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EBCF81-284F-4B08-A130-8DEEDAF2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1619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801450-4D5F-4AE9-BBDB-CD8CB464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00200"/>
            <a:ext cx="1619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AD2D74-C229-4F08-BBAB-5F36323E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7907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93.0%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9CDF2F1-DC58-4475-9473-F616E63E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098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VIKI-R 7B L1 ACC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6DC261-AF52-4CBD-B578-0A3782C4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76400"/>
            <a:ext cx="1619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9EA83E-41A0-4070-A225-8F8E6DEF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00200"/>
            <a:ext cx="1619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92AA4A-7D4F-4E07-857F-F8EA860F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7907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69.25%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214B6BE-B381-4371-B435-B8F8C07C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098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VIKI-R 7B L2 AVG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75C03F-F570-48A1-85CD-79913D74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1619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81FD72-A1F9-47E9-B055-110FD167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00200"/>
            <a:ext cx="1619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B7EB02-034F-4412-884C-7C40DEAC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9070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77.82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2C1B19-5AAA-490C-880B-69F67A21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VIKI-R 7B L3 AVG ↓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F77E831-CF1B-41D0-926D-F5260BFC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67050"/>
            <a:ext cx="5334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231A44-462D-43E7-81BD-46E4A0FD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90850"/>
            <a:ext cx="5334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2D3834-CBB5-49C8-8AAC-65634DF6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00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OOD planning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2DAE4F-0B8A-4FCF-A421-05B0E66A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57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Ans-SFT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F84725D-883D-4CCA-99F1-F79D8EA0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4B59C5-E05B-45E9-836B-AD6E61E6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123235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4770EEE-807B-425F-B201-3BAC1494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576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25.62%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E4967DA-1B56-4D72-B448-F71E0430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19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VIKI-R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AB7A355-AC91-40A0-81D1-E1FCA912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76700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4D4F668-DBB8-4E7C-B905-6E4018DA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76700"/>
            <a:ext cx="159936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037B739-B117-4F35-94BE-49FB0AAE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195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33.25%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D6E43A5-C45D-43B8-93CA-1AF7E5CA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19300"/>
            <a:ext cx="22669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59C3298-CF4E-4AF6-86F4-98FD28DE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22669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54D"/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30735E-4B1B-48BC-9E26-88022CC5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rPr>
              <a:t>讲法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B3756A2-6161-49C6-A4D1-008D1554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165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不要说“全表碾压”。更准确是：RL 在 OOD planning 和 trajectory average 上更稳。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99ED3E5-45AB-45EF-9AFF-271E8847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34050"/>
            <a:ext cx="944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0E2BF60-596F-4B35-B38E-EE77A168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57875"/>
            <a:ext cx="891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rPr>
              <a:t>结论要保守：VIKI-R 的提升主要体现在泛化规划和轨迹感知。</a:t>
            </a:r>
          </a:p>
        </p:txBody>
      </p:sp>
    </p:spTree>
    <p:extLst>
      <p:ext uri="{BB962C8B-B14F-4D97-AF65-F5344CB8AC3E}">
        <p14:creationId xmlns:p14="http://schemas.microsoft.com/office/powerpoint/2010/main" val="12444280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52af3454446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3553839ff47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5C266-CEAF-43FE-9EC6-F0B7D1E7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8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85E67-7433-4E46-8BE8-0D5524F8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BD527-C4FA-40B7-9EB0-32061684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F2733-6569-42A2-9285-01364F03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0E8D9-AE90-4568-985B-7207D06D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EC388-9795-48AF-938E-FB2C6415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10F88-DBBA-4247-818E-2E0B1C00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C129B-FB42-4C2C-991E-D3390347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53245-1B23-43CF-9F00-8B41E71D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2D3EA-D73A-4B2C-9032-53484C27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FDA353-2B73-4E23-8C26-167D7F0D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66358-A3F0-47C6-B9DC-6792E794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7935E-11C3-4C83-A016-25C90A29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3901D-A49C-4CBA-8A90-8B69E9BB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5DAF5-51EA-4327-83D7-5400F311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6F015-780D-4836-BCAC-896521F8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EB76A-0C9E-49CC-A8CF-E73CA278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F0093-1880-412A-917C-05514860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EACBC-E763-4C23-9DFA-6E1AAD33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ADEC8D-C63F-4F75-AECA-87762AD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03E6B-CA3E-476E-845F-B355573A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12C4A5-1446-4D2D-B89D-5F2211C5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8D4029-1847-4549-9B60-3332A473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4C6D02-1765-492B-85E5-C1F3EAA5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B5A1BF-98FD-4C92-8906-6D4697B5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BCC97F-7C63-4E55-9FAC-C3F0B9F6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E98736-800C-461E-BDD4-C07117B8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5CB7A2-71C5-46BE-9659-D51BE6E7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6149CA-1E0F-480F-B436-C3B1BB4D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D3BFD-FF9A-4A06-967E-A35B6A56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DED2EC-E40D-4D2D-96AA-23BFFB21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35697C-A9CE-4044-949A-060EFDD1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A7B84A-7A15-4ED0-9FE9-BEAE7E3C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551E5D-9B56-417F-B629-2BE8FF72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61AF95-6269-462F-B623-4D6097F8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294C07-8FE8-49C8-9F7A-219A432F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EB59D6-6161-4BC1-80D2-009FC48A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FF5915-D717-43D0-9649-5962B019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E85BCB-30AB-4ED6-97AD-F8C85D06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048A4B-DF5F-4584-9D41-2EBCA037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517C5E-EA37-416C-A604-F242AAC2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8C458D-EB36-4BC4-BB38-D991EBFE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9A7BB6-2A71-44E0-BF62-461C6383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7EC905-9C9A-46D9-81FC-D89D24BB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2C431D-B840-4055-99D8-C1F5D41D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4DAC3A-EEC1-4E1F-AAE7-B648555A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DCEBF0-938D-4A3F-A13D-19AD8C92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327ECA-BE1E-452B-B725-D9165B10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A20904-1D79-4A27-B00E-BA414065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C2CA3F-4B06-48D7-9536-352D465C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3238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7FDB80-CE8B-4863-A02E-F04C9FCB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10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消融实验：Step penalty 防止长计划作弊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9F6FCB-89BE-4A3C-8181-8F48EF84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B244A4-B9FB-44DA-ADFA-72F9D0D8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38300"/>
            <a:ext cx="5772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F78A73-1276-40E6-8607-C9BBB1AC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562100"/>
            <a:ext cx="5772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1C51FB-CEC0-4B54-AE40-F9072B50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097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Accuracy with / without step penalty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92B838-0532-4531-AAB6-7DE17AE0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OOD-H without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49B70B-EE4D-4348-8F09-894B92A5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2F32EF-0CE6-4F06-8745-DE6FFDE2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16365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6D15BE-9A3E-4732-ACCE-230141F8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241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7.1%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8EB2B4-6693-4D7B-9108-BE6F290C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00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OOD-H with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26FA65-4A55-4E0D-BBC0-C57247A0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57500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BBCD28-83F6-4A7A-BF5F-A8B191A3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57500"/>
            <a:ext cx="10787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3334D9-8243-4C1D-A6B2-7BF0BFCF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003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46.8%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611017-A1B6-4205-AF7A-5A0FB9F0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67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ID-H without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0EE6E1-A8DB-4B91-9D64-1477D05E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6157127-80BC-4B73-BF2D-AF8D87C5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18440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3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36EB167-948F-4D54-B811-B3FC0B8E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671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8%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031EB78-45D8-4453-A10B-8D9389B9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43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ID-H with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CD5EE9-14C4-442F-99B8-5481E452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00500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04858A-B44C-4ABF-843F-FC922C05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00500"/>
            <a:ext cx="221284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D18BA6E-7958-4EE3-9ECE-901FAE85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433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96%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4D57E39-F747-482B-9C94-203FE50E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28800"/>
            <a:ext cx="2095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82DD05-EE36-435A-9AD5-5BFEE7D0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20955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F1362F9-3C45-4B73-A832-B36E3DE4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Δ steps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1D77037-CD5E-4FDA-B4D6-4945BDEA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84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4335"/>
                </a:solidFill>
                <a:latin typeface="Microsoft YaHei"/>
                <a:ea typeface="Microsoft YaHei"/>
                <a:cs typeface="Microsoft YaHei"/>
              </a:rPr>
              <a:t>+1.97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DD56E11-9D5A-40B7-8571-626CED92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527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without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92F63F5-6D71-4A77-83FF-94A112BC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+0.05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7684B68-A863-48DC-A822-35CC2458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with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0B3C4DF-28EE-475B-B902-214FF421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D7F10A5-7A3C-4505-BE0D-104BAC05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54D"/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239851F-4A4D-4B36-9E8C-B9DFB005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290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rPr>
              <a:t>计划必须可行，</a:t>
            </a:r>
          </a:p>
          <a:p xmlns:a="http://schemas.openxmlformats.org/drawingml/2006/main">
            <a:pPr algn="ctr">
              <a:defRPr sz="960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rPr>
              <a:t>长度不能超过 GT。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3EDBF6-E429-4611-9C69-C7B96247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34050"/>
            <a:ext cx="944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51D8291-54EA-446B-9167-D834533C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57875"/>
            <a:ext cx="891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rPr>
              <a:t>如果没有 step penalty，模型会用更长计划“碰运气”；加上后长度接近 GT。</a:t>
            </a:r>
          </a:p>
        </p:txBody>
      </p:sp>
    </p:spTree>
    <p:extLst>
      <p:ext uri="{BB962C8B-B14F-4D97-AF65-F5344CB8AC3E}">
        <p14:creationId xmlns:p14="http://schemas.microsoft.com/office/powerpoint/2010/main" val="18549980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04cb0b3c24f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ad800cb6b4e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BC897-259E-4919-B95D-8B8B7BCD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8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FDA14-5BDD-4D2B-8112-A95B1632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35D14-F15F-47EF-A0B0-A55D50FD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92DFB-197A-4963-A819-A44D892E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6EF0E-FF37-4C86-B5A8-682E9BF8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89C4D-9256-42D8-8756-7074D0BE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67F4D-7EE3-4450-B59F-0DDAC1B8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D866C-60C8-4EF9-AA7E-E5DA8B64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B3B2E-67B2-4ADD-9B2F-8AA7EF8D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B697B-90B0-4372-9712-BE2329E8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5E6B8-0E2A-4F57-9FFA-602D78F0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F3C86-D6A0-4C49-B0D1-2C239DAC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20F12-066E-4F8C-8988-97E2B7D2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E5C0F-D3C5-48A0-BB39-826E0F3A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7129A-52D0-4C07-846D-67C7D84F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157E4-B36B-4371-B3D2-68242A8F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5A912-22E2-4C83-8A12-FDCE6D5E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F9A89-B53D-4AB6-AAC1-7D0A60EF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0FE5C8-FA68-4DA1-8DC3-6C04F86D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DCAD4-5510-4683-B29D-1D8F2B7D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DF995F-934F-40F7-A594-85E0A934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D8B5D7-7BAD-4AB2-B4E9-732391FC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5E2D5-0C4C-4383-9FB5-50BC8B8C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6F83CF-AB4F-47D3-9080-51DD47AE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17BFC5-FB11-4F75-94BA-AF85CE67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D64AF2-B57E-427C-9B5B-96107944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023FCD-4EF1-4D95-8C1F-73526421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92F707-E6D6-40FA-A0E6-A1AF40CB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92DCE1-924E-4D0A-B66D-32F28826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4A307E-1232-4C97-9642-0AB2FA26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78CB02-3D84-46C4-BD9D-76F83BA8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B1780A-4064-47AA-A379-9A895BCB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BBB150-2EF3-4B10-8DEF-FD96EAC6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1879AD-1C1B-4BE7-A5AE-8C1060B1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3BC089-CA2B-4811-9EC7-38E289CF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A13D56-5E10-4389-A0F9-57809186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75F12B-F5EB-4D30-AA8D-00E9BB95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35B5E1-9C4D-45F4-BB73-197DCEC5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8A49D4-D429-4CEC-A147-4A4EBC0D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D348D0-CD63-431B-AC2C-12C03FC0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7FB760-4C6E-4D52-B956-04E0EB22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0007A9-B632-4B58-B6AD-0DE47E60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552D72-6913-4A5B-8A85-92478640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1EAE8A-4B74-4F7D-B5F6-1C8779EB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B28C4E-3320-410C-9B61-BB166542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AAEE33-2D3B-4654-B0DF-DACC7A1F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09B984-1BE3-4D0F-825B-24A9E019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13905A-7331-4821-A3C2-9D557EBD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829147-BEF3-4C5F-917E-B62A0DE0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2CD129-283B-48DA-A133-0CFCFD69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3238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E7C1EC-824F-49BD-9D24-1C2A7E4B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10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训练观察：GRPO 放大已有能力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54B51C-2651-4359-AC8C-1C08010B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A7D692-139C-40D8-AF55-052D0CD2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504950"/>
            <a:ext cx="421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01747B-7F9E-4FFF-A145-294E078E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428750"/>
            <a:ext cx="421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4ECDC6-A7CB-4C33-8D90-5D2E36D8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383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B8CEDF-FC01-45CD-84EF-9155D4C0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62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Base policy matters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D28165-360A-413A-8262-706231E5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288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L2 planning 中 RL-only 几乎学不起来；reward 信号太弱。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C448B7-9F6A-43CA-9957-2C075241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1750"/>
            <a:ext cx="421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B0D53B-4EC2-4FFA-A6A3-F23911D5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95550"/>
            <a:ext cx="421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0E346E-5F0D-42E7-94CF-BA9620BC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051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8373196-42D3-4FCB-A3E6-41B23D39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289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SFT raises the floor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7730DC-8EAA-408B-9D0B-702EA1B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CoT cold-start 显著提高初始 reward，7B + SFT 收敛最快。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5C30515-CEC4-4EBB-83BC-3A7EBF04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38550"/>
            <a:ext cx="421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10688F5-4B02-430F-905D-B4B28157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62350"/>
            <a:ext cx="421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B4F7C0-44EA-4E96-B59D-C868F2D5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71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0536B3-FE92-453D-ADB2-A154C8EF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95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Length tells a story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AD0910-79DB-438A-91AF-24430D1A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624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输出长度先降后升：先抢 format reward，稳定后再补 reasoning。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c96a4c6594900"/>
          <a:stretch xmlns:a="http://schemas.openxmlformats.org/drawingml/2006/main"/>
        </p:blipFill>
        <p:spPr>
          <a:xfrm xmlns:a="http://schemas.openxmlformats.org/drawingml/2006/main">
            <a:off x="6999794" y="1524000"/>
            <a:ext cx="2383411" cy="238125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6609BE7-9BFB-4EC3-B796-29AB0F68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可追问：模型学到的是协作推理，还是被 reward 筛出来的格式化模板？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CBA0AF0-4016-45E0-9E5D-F5F38811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34050"/>
            <a:ext cx="944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D814090-B012-4511-9FB5-EEE4FE68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57875"/>
            <a:ext cx="891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rPr>
              <a:t>训练结论：SFT 冷启动决定下限，GRPO 主要在已有可行输出上做强化筛选。</a:t>
            </a:r>
          </a:p>
        </p:txBody>
      </p:sp>
    </p:spTree>
    <p:extLst>
      <p:ext uri="{BB962C8B-B14F-4D97-AF65-F5344CB8AC3E}">
        <p14:creationId xmlns:p14="http://schemas.microsoft.com/office/powerpoint/2010/main" val="12572761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e3d3c3ca24e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70db5c9c145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51BBD-CE9A-43DF-AFFE-4F54AF17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8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DF324-32E4-49C1-B818-B1B4FE5E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22145-BB94-4B0A-B8A1-0B0ED081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BC6EB-7A0E-4F09-8384-2B6C06D3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EDD10-7F2F-4EAE-8D46-1A88F824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CE27E-1874-477C-963A-C1C3A471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89886-7FC6-4944-BBC7-BA4EFCD2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DA068-CAAF-456D-B95F-2004D8DC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0BFDD-4BB8-4C06-BA80-49A07DFF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54784-5182-4878-9C04-58669A40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49E4C-A90D-4FB2-B9F5-47CF6FE6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31399-9897-4A14-B72F-4947E0BF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28604-A714-4F7F-A33C-052730A3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1DD4B-6EA3-4303-9659-973ABB6E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6DFA6-846D-49D2-9739-A11815F3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B8831-712E-462E-85F4-D69E2574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EAA3F-741A-4F57-86A7-93962BF7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54386-85D1-4EAB-8C9F-5069A1A4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0B480-6B4C-44AD-91F4-09BE9365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30732-F0B9-40B0-A3B7-3F357C34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AAD05-F4ED-42AE-B7CA-98382AF6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90963-3A30-4FAA-BEA7-D589EBEC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590AD4-4DA8-410E-89BA-4986CDB9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048E6-E280-4AD4-8DEA-62BE51E1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87D19-3F7F-45D2-AF33-232FA04C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8AB423-5839-4C0A-A95C-C70A2527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3DC626-537E-4612-976B-8698592A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A65D6B-A314-4909-A475-60723F67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556038-553A-49FE-A18E-B1716092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79A3A5-836A-46F2-85BB-90F47311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20405F-D875-4AD1-9892-03828B2B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39167F-8F8E-426B-9758-4A24EB80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58AF74-0A44-47CD-A105-29D7C07E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947152-0D66-4CB1-957A-0917707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05486D-8DDE-438E-938F-6F9F44C7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F52604-30DA-4FBF-94F5-25C1662A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A2ED13-E236-49C5-9D2E-48A5E371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085F59-032A-4378-9076-024AAE5E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DADFA9-6CF7-478A-A897-A4F43F7B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28AFA3-83FE-4D07-AADA-9DCD74E5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2846D1-0665-4FCB-B37E-A6552DF5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C2EF6C-78B8-4738-B6BD-12A05039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040501-DB89-4BD5-83F1-15F6D64A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7D07FA-AA3A-48C0-9A98-EF7AE472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B57CAE-8F33-468D-AE73-BC413168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4CF0BC-478E-405F-932D-FE2B1F52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830CC8-B940-4734-ACB0-2E594B38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1913F2-48C4-4A1B-99CE-E8465A94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977A33-C88F-4E79-A9D3-D0054D84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46B09C-FF68-45CC-A06A-39F70760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3238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3CBF69-E290-44F7-A4F1-85912846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10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论文边界：值得看，但不能讲过头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970B28-28B9-4C0E-9DE7-85980151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F3A5BD-C6E5-4CFB-8131-EEB42C7E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E7282B-F41E-49FB-8A15-8B301E71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002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099AED-7E82-4043-9516-34F3E16F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478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6C47AF-B141-458A-86FA-D4C5F865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52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Sim-to-real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6E515A-F539-48A9-8271-61311593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193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真实 L1 zero-shot 最高 28%，视觉/物理分布差距仍明显。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EAF5C3-94E6-4C64-A296-3410946B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764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F1C129-E17D-43E7-9E20-2BBF68CB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002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67B4B3-0CBC-4E28-A32E-71DDDEE4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78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DB6875-9147-4F68-AFF1-A4A9EB0B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Hierarchy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4CC268-24FC-41CA-837F-274478B5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193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L1/L2/L3 清楚，但真实任务可能有动态障碍和目标变化。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95DD90-4FC4-48CE-90EB-A1244E20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337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74B4F0-48F2-485D-BB19-0496A775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575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FFA7C8-879B-4DBD-927B-DD6677A7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051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08B393-985B-49D3-9AF3-1500CEE2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09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Interpretability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7862AC-2672-456E-ABBA-6558D607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766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CoT 格式不等于真实因果解释，emergent cooperation 还缺机制分析。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FA7B962-EC80-406A-881D-8F3A26ED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337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F90ED1C-B5A5-4850-B995-7055527F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575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11CCD96-8F7C-45FF-B8DC-A841783E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91B3D6-C153-47EF-92F3-1E7DDAC7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Cost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D8761F-DFB8-473A-927C-985868D6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7B 三个 level 训练约 22h / 9h / 5h，需要 8×A800。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7B01163-BA50-430D-91B8-5B8F5D2C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3865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汇报时不要把它讲成“已经解决真实多机器人控制”，它主要解决的是视觉协作推理接口和 reward 训练。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BA99D2-AB6D-40A9-9C50-7F6BE4F5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34050"/>
            <a:ext cx="944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1DF9AD-70B4-4F20-8F55-DA124102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57875"/>
            <a:ext cx="891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rPr>
              <a:t>合理评价：强在 benchmark + reward shaping，弱在真实闭环执行和机制解释。</a:t>
            </a:r>
          </a:p>
        </p:txBody>
      </p:sp>
    </p:spTree>
    <p:extLst>
      <p:ext uri="{BB962C8B-B14F-4D97-AF65-F5344CB8AC3E}">
        <p14:creationId xmlns:p14="http://schemas.microsoft.com/office/powerpoint/2010/main" val="13395611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9784f60ee4d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5b58555af4a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A4A69-2152-4259-B9EC-DA9572CE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8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6CE23-E1F1-4822-A867-DB976739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16E97-01CF-4566-9FDB-148D93FE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7099F-DF3F-4D05-9098-3384D5E3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ACEE0-2604-48EE-861F-69D10BA8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0E4ED-98C7-49F4-BB27-6440A702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037D3-A876-4BC8-8278-ACE579D8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96101-0E48-4D77-9CF4-B8385B9B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4F042-5FAC-4EE0-A172-19A52987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1DAD0-B7FD-413D-A9A5-F6101062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439CC-D321-4C9C-8927-08E24F0B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5B420-B0B7-4B4F-81E2-4793B5F3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9867E-76DB-437B-A1DA-463842E5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CF00E3-5AE8-490B-81D7-57239A8D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6B700-062D-427B-883F-38C208A5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EC8AF-5B23-485F-BA96-C66C95A5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B5C15-02BB-4D1B-848E-561E6EA4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421A2-85B3-4DA2-9839-74408702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689CF-1CFE-44AC-A8AA-D819E82C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7B1F7-3C2B-4D16-89B0-CDBD103D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A40648-F339-47E1-ADF3-D2C277F8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AC74A-3374-4578-82EF-AAD596AA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1457E4-C577-4DCC-AFE5-6491F6FF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E78C2-600E-44B0-B6B6-EE3F8950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7E091-EBDF-495A-B953-0DF40E6D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8E126B-1553-4789-B513-2A303BE7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3D3206-9C36-4E65-8976-72131007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02947C-D45A-44D0-A43F-F3E10B97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89E7B4-D6E1-4B6F-A3B4-DD0A7148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B9E15B-2A26-4E45-A62F-70081DEC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F04E35-5D48-4A41-9750-2BB5266D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50A3DD-F67D-4D83-B174-0E26A033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C42BF7-F11C-4486-B7DB-8F0120C5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FD8923-8B23-4D6D-9E34-F800EFC4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A9F429-BA5E-4282-A3B0-BECB106D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4021BC-2BA7-479D-BCC9-5029538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889203-96CB-470E-B6D3-6DDFD7B9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93C2BA-CFAB-48BB-AE63-8B59298F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58CBB6-E5F1-4A0B-B10D-5A4EFB54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2600B9-A01D-4DFB-8035-7F03D2C0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2F5899-E5FC-4128-8A86-D38D2419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7EA445-7745-4A1D-BA19-95DA3F98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88D2B3-BF42-44C8-92AB-B678E3A0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3B3784-D96A-491F-A887-B9A5D27A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108E87-B389-404D-B67C-D67208CD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4EA7EA-2FD1-499A-B798-1EB36346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48220E-9B60-4A37-B7C7-2BD5A8D3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20F49B-28ED-4D94-9468-97A447D4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AE8B35-518C-40A2-BAF8-E32AE664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E3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B3D1DD-30DC-486A-8960-0AFAC2FB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66800"/>
            <a:ext cx="3238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9DD2D3-2E3F-4651-964E-C310FA40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10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讨论问题：如何迁移到自己的云边研究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683992-A7BE-4C0B-A3FD-C2099C41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15FD43-9C82-41DC-9805-3F20B7BA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288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A6BB29-7B2C-42EB-A6F4-FA9E1D16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526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2F21C3-D120-41DD-91E0-B58D6182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955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Q1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CBA0BA-763F-4C6C-8236-7F7564B1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670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Benchmark 是否真实？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39901B-CB9A-4E9F-B016-91A70C6F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支持：异构 robot、多视角、feasibility check。</a:t>
            </a:r>
          </a:p>
          <a:p xmlns:a="http://schemas.openxmlformats.org/drawingml/2006/main">
            <a:pPr algn="l">
              <a:def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怀疑：模拟数据和结构化输出仍离闭环执行很远。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C1EA4D-A80F-46FB-9B4B-D622E85A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288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6E8BFF-496E-435D-85C2-378BDEA1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34D483-48D4-4BD4-8166-9D6E7404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Q2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7471007-4352-4820-865D-5D96D12F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Reward 是否可迁移？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7A357C-02AB-47CD-ACAA-8DEB17C8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step penalty 很有效，但 GT plan 长度是否总是合理，会影响开放任务泛化。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B2C9F8-6AFD-47D2-866F-39A54599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288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C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E937E7F-B9D0-4D1A-9B13-0201C0B3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9525">
            <a:solidFill>
              <a:srgbClr val="AEC0A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4F0FB8-73A5-4BFC-BCCA-25196D43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654D"/>
                </a:solidFill>
                <a:latin typeface="Microsoft YaHei"/>
                <a:ea typeface="Microsoft YaHei"/>
                <a:cs typeface="Microsoft YaHei"/>
              </a:rPr>
              <a:t>Q3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BF1C67-D7D1-416C-A162-4D60F07C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4C3A"/>
                </a:solidFill>
                <a:latin typeface="Microsoft YaHei"/>
                <a:ea typeface="Microsoft YaHei"/>
                <a:cs typeface="Microsoft YaHei"/>
              </a:rPr>
              <a:t>能借鉴到云边吗？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5F8B64-7053-4510-8A00-520C0B6A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188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735F"/>
                </a:solidFill>
                <a:latin typeface="Microsoft YaHei"/>
                <a:ea typeface="Microsoft YaHei"/>
                <a:cs typeface="Microsoft YaHei"/>
              </a:rPr>
              <a:t>最值得复用的是分层接口、可执行性 checker 和 reward shaping。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8FE7296-7C28-42AC-BEAE-6F6833E1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34050"/>
            <a:ext cx="944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F6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EF1F37-6B9F-44C7-8D54-E23A558A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57875"/>
            <a:ext cx="891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F1D4"/>
                </a:solidFill>
                <a:latin typeface="Microsoft YaHei"/>
                <a:ea typeface="Microsoft YaHei"/>
                <a:cs typeface="Microsoft YaHei"/>
              </a:rPr>
              <a:t>一句话 take-away：把协作问题拆成可评测、可奖励的接口，比追一个端到端大模型更现实。</a:t>
            </a:r>
          </a:p>
        </p:txBody>
      </p:sp>
    </p:spTree>
    <p:extLst>
      <p:ext uri="{BB962C8B-B14F-4D97-AF65-F5344CB8AC3E}">
        <p14:creationId xmlns:p14="http://schemas.microsoft.com/office/powerpoint/2010/main" val="1125127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2026-05-25T11:16:19.0990000Z</dcterms:created>
  <dcterms:modified xsi:type="dcterms:W3CDTF">2026-05-25T11:16:19.0990000Z</dcterms:modified>
</coreProperties>
</file>